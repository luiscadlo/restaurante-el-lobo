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66" r:id="rId4"/>
    <p:sldId id="269" r:id="rId5"/>
    <p:sldId id="263" r:id="rId6"/>
    <p:sldId id="258" r:id="rId7"/>
    <p:sldId id="259" r:id="rId8"/>
    <p:sldId id="267" r:id="rId9"/>
    <p:sldId id="268" r:id="rId10"/>
  </p:sldIdLst>
  <p:sldSz cx="6858000" cy="9144000" type="screen4x3"/>
  <p:notesSz cx="6858000" cy="9144000"/>
  <p:defaultTextStyle>
    <a:defPPr>
      <a:defRPr lang="es-CO"/>
    </a:defPPr>
    <a:lvl1pPr marL="0" algn="l" defTabSz="768079" rtl="0" eaLnBrk="1" latinLnBrk="0" hangingPunct="1">
      <a:defRPr sz="1513" kern="1200">
        <a:solidFill>
          <a:schemeClr val="tx1"/>
        </a:solidFill>
        <a:latin typeface="+mn-lt"/>
        <a:ea typeface="+mn-ea"/>
        <a:cs typeface="+mn-cs"/>
      </a:defRPr>
    </a:lvl1pPr>
    <a:lvl2pPr marL="384038" algn="l" defTabSz="768079" rtl="0" eaLnBrk="1" latinLnBrk="0" hangingPunct="1">
      <a:defRPr sz="1513" kern="1200">
        <a:solidFill>
          <a:schemeClr val="tx1"/>
        </a:solidFill>
        <a:latin typeface="+mn-lt"/>
        <a:ea typeface="+mn-ea"/>
        <a:cs typeface="+mn-cs"/>
      </a:defRPr>
    </a:lvl2pPr>
    <a:lvl3pPr marL="768079" algn="l" defTabSz="768079" rtl="0" eaLnBrk="1" latinLnBrk="0" hangingPunct="1">
      <a:defRPr sz="1513" kern="1200">
        <a:solidFill>
          <a:schemeClr val="tx1"/>
        </a:solidFill>
        <a:latin typeface="+mn-lt"/>
        <a:ea typeface="+mn-ea"/>
        <a:cs typeface="+mn-cs"/>
      </a:defRPr>
    </a:lvl3pPr>
    <a:lvl4pPr marL="1152117" algn="l" defTabSz="768079" rtl="0" eaLnBrk="1" latinLnBrk="0" hangingPunct="1">
      <a:defRPr sz="1513" kern="1200">
        <a:solidFill>
          <a:schemeClr val="tx1"/>
        </a:solidFill>
        <a:latin typeface="+mn-lt"/>
        <a:ea typeface="+mn-ea"/>
        <a:cs typeface="+mn-cs"/>
      </a:defRPr>
    </a:lvl4pPr>
    <a:lvl5pPr marL="1536158" algn="l" defTabSz="768079" rtl="0" eaLnBrk="1" latinLnBrk="0" hangingPunct="1">
      <a:defRPr sz="1513" kern="1200">
        <a:solidFill>
          <a:schemeClr val="tx1"/>
        </a:solidFill>
        <a:latin typeface="+mn-lt"/>
        <a:ea typeface="+mn-ea"/>
        <a:cs typeface="+mn-cs"/>
      </a:defRPr>
    </a:lvl5pPr>
    <a:lvl6pPr marL="1920196" algn="l" defTabSz="768079" rtl="0" eaLnBrk="1" latinLnBrk="0" hangingPunct="1">
      <a:defRPr sz="1513" kern="1200">
        <a:solidFill>
          <a:schemeClr val="tx1"/>
        </a:solidFill>
        <a:latin typeface="+mn-lt"/>
        <a:ea typeface="+mn-ea"/>
        <a:cs typeface="+mn-cs"/>
      </a:defRPr>
    </a:lvl6pPr>
    <a:lvl7pPr marL="2304235" algn="l" defTabSz="768079" rtl="0" eaLnBrk="1" latinLnBrk="0" hangingPunct="1">
      <a:defRPr sz="1513" kern="1200">
        <a:solidFill>
          <a:schemeClr val="tx1"/>
        </a:solidFill>
        <a:latin typeface="+mn-lt"/>
        <a:ea typeface="+mn-ea"/>
        <a:cs typeface="+mn-cs"/>
      </a:defRPr>
    </a:lvl7pPr>
    <a:lvl8pPr marL="2688275" algn="l" defTabSz="768079" rtl="0" eaLnBrk="1" latinLnBrk="0" hangingPunct="1">
      <a:defRPr sz="1513" kern="1200">
        <a:solidFill>
          <a:schemeClr val="tx1"/>
        </a:solidFill>
        <a:latin typeface="+mn-lt"/>
        <a:ea typeface="+mn-ea"/>
        <a:cs typeface="+mn-cs"/>
      </a:defRPr>
    </a:lvl8pPr>
    <a:lvl9pPr marL="3072313" algn="l" defTabSz="768079" rtl="0" eaLnBrk="1" latinLnBrk="0" hangingPunct="1">
      <a:defRPr sz="151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12" userDrawn="1">
          <p15:clr>
            <a:srgbClr val="A4A3A4"/>
          </p15:clr>
        </p15:guide>
        <p15:guide id="2" pos="22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EFB3EB"/>
    <a:srgbClr val="FF0000"/>
    <a:srgbClr val="99FF66"/>
    <a:srgbClr val="FF6600"/>
    <a:srgbClr val="FF00FF"/>
    <a:srgbClr val="FF9966"/>
    <a:srgbClr val="CC0000"/>
    <a:srgbClr val="663300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1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2525" y="62"/>
      </p:cViewPr>
      <p:guideLst>
        <p:guide orient="horz" pos="2812"/>
        <p:guide pos="22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6528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243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916" y="2279652"/>
            <a:ext cx="5915025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67916" y="6119285"/>
            <a:ext cx="5915025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663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163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486834"/>
            <a:ext cx="5915025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056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457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9293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406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6336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728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6" y="486834"/>
            <a:ext cx="1478756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71487" y="486834"/>
            <a:ext cx="4350544" cy="77491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03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71488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65358-FF4E-42AC-8B0F-AA674542D707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271713" y="8475134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4843463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7005F-5670-4713-AC38-3D4F265E68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9388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jpeg"/><Relationship Id="rId18" Type="http://schemas.openxmlformats.org/officeDocument/2006/relationships/image" Target="../media/image26.png"/><Relationship Id="rId3" Type="http://schemas.openxmlformats.org/officeDocument/2006/relationships/image" Target="../media/image7.jpeg"/><Relationship Id="rId7" Type="http://schemas.openxmlformats.org/officeDocument/2006/relationships/image" Target="../media/image15.jpe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1.jpeg"/><Relationship Id="rId16" Type="http://schemas.openxmlformats.org/officeDocument/2006/relationships/image" Target="../media/image24.png"/><Relationship Id="rId20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png"/><Relationship Id="rId15" Type="http://schemas.openxmlformats.org/officeDocument/2006/relationships/image" Target="../media/image23.jpeg"/><Relationship Id="rId10" Type="http://schemas.openxmlformats.org/officeDocument/2006/relationships/image" Target="../media/image18.jpeg"/><Relationship Id="rId19" Type="http://schemas.openxmlformats.org/officeDocument/2006/relationships/image" Target="../media/image27.jpeg"/><Relationship Id="rId4" Type="http://schemas.openxmlformats.org/officeDocument/2006/relationships/image" Target="../media/image12.png"/><Relationship Id="rId9" Type="http://schemas.openxmlformats.org/officeDocument/2006/relationships/image" Target="../media/image17.jpeg"/><Relationship Id="rId1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-1" y="0"/>
            <a:ext cx="6858001" cy="9144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/>
          <p:cNvSpPr txBox="1"/>
          <p:nvPr/>
        </p:nvSpPr>
        <p:spPr>
          <a:xfrm>
            <a:off x="-1" y="694945"/>
            <a:ext cx="6858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atin typeface="AR BERKLEY" panose="02000000000000000000" pitchFamily="2" charset="0"/>
              </a:rPr>
              <a:t>Comidas Rápidas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311728" y="1993393"/>
            <a:ext cx="623454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311728" y="3828288"/>
            <a:ext cx="623454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731521" y="2248819"/>
            <a:ext cx="53949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Bold ITC" panose="020B0907030504020204" pitchFamily="34" charset="0"/>
                <a:ea typeface="Malgun Gothic" panose="020B0503020000020004" pitchFamily="34" charset="-127"/>
              </a:rPr>
              <a:t>El Lobo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164592" y="182880"/>
            <a:ext cx="6510528" cy="8759953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Image result for hamburguesa 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5223" y="3902485"/>
            <a:ext cx="1709289" cy="170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/>
          <p:cNvSpPr txBox="1"/>
          <p:nvPr/>
        </p:nvSpPr>
        <p:spPr>
          <a:xfrm>
            <a:off x="302583" y="8125296"/>
            <a:ext cx="6234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Cra</a:t>
            </a:r>
            <a:r>
              <a:rPr lang="es-CO" sz="18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14 E # 44, Esquina – Portal de Almería</a:t>
            </a:r>
          </a:p>
          <a:p>
            <a:pPr algn="ctr"/>
            <a:r>
              <a:rPr lang="es-CO" sz="18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Domicilio gratis en zonas cercanas</a:t>
            </a:r>
          </a:p>
        </p:txBody>
      </p:sp>
      <p:pic>
        <p:nvPicPr>
          <p:cNvPr id="1028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516" y="6524267"/>
            <a:ext cx="1889144" cy="88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/>
          <p:cNvSpPr txBox="1"/>
          <p:nvPr/>
        </p:nvSpPr>
        <p:spPr>
          <a:xfrm>
            <a:off x="1856232" y="7662672"/>
            <a:ext cx="3145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latin typeface="Berlin Sans FB Demi" panose="020E0802020502020306" pitchFamily="34" charset="0"/>
              </a:rPr>
              <a:t>301 2573696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731520" y="4031326"/>
            <a:ext cx="38770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Hamburguesas</a:t>
            </a:r>
          </a:p>
          <a:p>
            <a:r>
              <a:rPr lang="es-CO" sz="3600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Perros</a:t>
            </a:r>
          </a:p>
          <a:p>
            <a:r>
              <a:rPr lang="es-CO" sz="3600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Suizos</a:t>
            </a:r>
          </a:p>
          <a:p>
            <a:r>
              <a:rPr lang="es-CO" sz="3600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Picadas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3936492" y="5558068"/>
            <a:ext cx="24780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Arepas</a:t>
            </a:r>
          </a:p>
          <a:p>
            <a:r>
              <a:rPr lang="es-CO" sz="3600" dirty="0" err="1">
                <a:latin typeface="Monotype Corsiva" panose="03010101010201010101" pitchFamily="66" charset="0"/>
                <a:ea typeface="Malgun Gothic" panose="020B0503020000020004" pitchFamily="34" charset="-127"/>
              </a:rPr>
              <a:t>Salchipapas</a:t>
            </a:r>
            <a:endParaRPr lang="es-CO" sz="3600" dirty="0">
              <a:latin typeface="Monotype Corsiva" panose="03010101010201010101" pitchFamily="66" charset="0"/>
              <a:ea typeface="Malgun Gothic" panose="020B0503020000020004" pitchFamily="34" charset="-127"/>
            </a:endParaRPr>
          </a:p>
          <a:p>
            <a:r>
              <a:rPr lang="es-CO" sz="3600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Asados</a:t>
            </a:r>
          </a:p>
        </p:txBody>
      </p:sp>
      <p:pic>
        <p:nvPicPr>
          <p:cNvPr id="1030" name="Picture 6" descr="Image result for whatsapp logo 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35" y="7657670"/>
            <a:ext cx="410115" cy="41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Conector recto 24"/>
          <p:cNvCxnSpPr/>
          <p:nvPr/>
        </p:nvCxnSpPr>
        <p:spPr>
          <a:xfrm>
            <a:off x="311728" y="7610801"/>
            <a:ext cx="623454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1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rgbClr val="FF00FF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Conector recto 12"/>
          <p:cNvCxnSpPr/>
          <p:nvPr/>
        </p:nvCxnSpPr>
        <p:spPr>
          <a:xfrm>
            <a:off x="256032" y="3936303"/>
            <a:ext cx="6382513" cy="0"/>
          </a:xfrm>
          <a:prstGeom prst="line">
            <a:avLst/>
          </a:prstGeom>
          <a:ln w="28575">
            <a:solidFill>
              <a:srgbClr val="FFCC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256032" y="4030706"/>
            <a:ext cx="6382513" cy="4838975"/>
          </a:xfrm>
          <a:prstGeom prst="rect">
            <a:avLst/>
          </a:prstGeom>
          <a:solidFill>
            <a:srgbClr val="FFFF0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/>
          <p:cNvSpPr txBox="1"/>
          <p:nvPr/>
        </p:nvSpPr>
        <p:spPr>
          <a:xfrm>
            <a:off x="-342900" y="4464050"/>
            <a:ext cx="7543800" cy="1240187"/>
          </a:xfrm>
          <a:prstGeom prst="rect">
            <a:avLst/>
          </a:prstGeom>
          <a:noFill/>
        </p:spPr>
        <p:txBody>
          <a:bodyPr wrap="square" rtlCol="0">
            <a:prstTxWarp prst="textButton">
              <a:avLst/>
            </a:prstTxWarp>
            <a:spAutoFit/>
          </a:bodyPr>
          <a:lstStyle/>
          <a:p>
            <a:pPr algn="ctr"/>
            <a:r>
              <a:rPr lang="es-CO" sz="480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orte" panose="03060902040502070203" pitchFamily="66" charset="0"/>
              </a:rPr>
              <a:t>Comidas Rápidas</a:t>
            </a:r>
          </a:p>
          <a:p>
            <a:pPr algn="ctr"/>
            <a:r>
              <a:rPr lang="es-CO" sz="480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orte" panose="03060902040502070203" pitchFamily="66" charset="0"/>
              </a:rPr>
              <a:t>El Lobo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256032" y="5440740"/>
            <a:ext cx="63825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“</a:t>
            </a:r>
            <a:r>
              <a:rPr lang="es-CO" sz="3200" b="1" i="1" dirty="0">
                <a:solidFill>
                  <a:srgbClr val="FF0000"/>
                </a:solidFill>
              </a:rPr>
              <a:t> YA ESTAMOS DE REGRESO</a:t>
            </a:r>
          </a:p>
          <a:p>
            <a:pPr algn="ctr"/>
            <a:r>
              <a:rPr lang="es-CO" sz="3200" b="1" i="1" dirty="0">
                <a:solidFill>
                  <a:srgbClr val="FF0000"/>
                </a:solidFill>
              </a:rPr>
              <a:t> CON EL SERVICIO </a:t>
            </a:r>
          </a:p>
          <a:p>
            <a:pPr algn="ctr"/>
            <a:r>
              <a:rPr lang="es-CO" sz="3200" b="1" i="1" dirty="0">
                <a:solidFill>
                  <a:srgbClr val="FF0000"/>
                </a:solidFill>
              </a:rPr>
              <a:t>DE ALMUERZOS A DOMICILIO</a:t>
            </a:r>
            <a:r>
              <a:rPr lang="es-CO" sz="3200" b="1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”</a:t>
            </a:r>
          </a:p>
          <a:p>
            <a:pPr algn="ctr"/>
            <a:r>
              <a:rPr lang="es-CO" sz="2000" b="1" i="1" dirty="0">
                <a:solidFill>
                  <a:schemeClr val="accent6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DE LUNES  A  SÁBADO</a:t>
            </a:r>
          </a:p>
          <a:p>
            <a:pPr algn="ctr"/>
            <a:endParaRPr lang="es-CO" sz="2400" b="1" i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2" t="8537" r="20994" b="46638"/>
          <a:stretch/>
        </p:blipFill>
        <p:spPr>
          <a:xfrm>
            <a:off x="939546" y="470471"/>
            <a:ext cx="4978908" cy="333781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</p:pic>
      <p:sp>
        <p:nvSpPr>
          <p:cNvPr id="7" name="CuadroTexto 6"/>
          <p:cNvSpPr txBox="1"/>
          <p:nvPr/>
        </p:nvSpPr>
        <p:spPr>
          <a:xfrm>
            <a:off x="585217" y="7863842"/>
            <a:ext cx="5687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Cra</a:t>
            </a:r>
            <a:r>
              <a:rPr lang="es-CO" sz="18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14 E # 44, Esquina – Portal de Almería</a:t>
            </a:r>
          </a:p>
          <a:p>
            <a:pPr algn="ctr"/>
            <a:r>
              <a:rPr lang="es-CO" sz="18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Domicilios gratis zonas cercanas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975104" y="7347313"/>
            <a:ext cx="3383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301 257 3696</a:t>
            </a:r>
          </a:p>
        </p:txBody>
      </p:sp>
      <p:pic>
        <p:nvPicPr>
          <p:cNvPr id="10" name="Picture 6" descr="Image result for whatsapp logo 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999" y="7328564"/>
            <a:ext cx="410115" cy="41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/>
          <p:cNvSpPr/>
          <p:nvPr/>
        </p:nvSpPr>
        <p:spPr>
          <a:xfrm>
            <a:off x="256032" y="193190"/>
            <a:ext cx="6382513" cy="862162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6833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7000">
              <a:srgbClr val="FF7C80">
                <a:alpha val="93725"/>
              </a:srgbClr>
            </a:gs>
            <a:gs pos="56000">
              <a:schemeClr val="accent4">
                <a:lumMod val="40000"/>
                <a:lumOff val="60000"/>
              </a:schemeClr>
            </a:gs>
            <a:gs pos="83000">
              <a:schemeClr val="accent4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nta curvada hacia arriba 1"/>
          <p:cNvSpPr/>
          <p:nvPr/>
        </p:nvSpPr>
        <p:spPr>
          <a:xfrm>
            <a:off x="475486" y="2207394"/>
            <a:ext cx="6194203" cy="1227894"/>
          </a:xfrm>
          <a:prstGeom prst="ellipseRibbon2">
            <a:avLst>
              <a:gd name="adj1" fmla="val 23750"/>
              <a:gd name="adj2" fmla="val 73255"/>
              <a:gd name="adj3" fmla="val 7500"/>
            </a:avLst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>
                <a:solidFill>
                  <a:schemeClr val="bg1"/>
                </a:solidFill>
                <a:latin typeface="Impact" panose="020B0806030902050204" pitchFamily="34" charset="0"/>
              </a:rPr>
              <a:t>MENÚ DEL DÍA 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858249" y="587015"/>
            <a:ext cx="5428678" cy="2008083"/>
          </a:xfrm>
          <a:prstGeom prst="rect">
            <a:avLst/>
          </a:prstGeom>
          <a:noFill/>
        </p:spPr>
        <p:txBody>
          <a:bodyPr wrap="square" rtlCol="0">
            <a:prstTxWarp prst="textButton">
              <a:avLst>
                <a:gd name="adj" fmla="val 10828785"/>
              </a:avLst>
            </a:prstTxWarp>
            <a:spAutoFit/>
          </a:bodyPr>
          <a:lstStyle/>
          <a:p>
            <a:pPr algn="ctr"/>
            <a:r>
              <a:rPr lang="es-CO" sz="4801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orte" panose="03060902040502070203" pitchFamily="66" charset="0"/>
              </a:rPr>
              <a:t>Comidas Rápidas</a:t>
            </a:r>
          </a:p>
          <a:p>
            <a:pPr algn="ctr"/>
            <a:r>
              <a:rPr lang="es-CO" sz="480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orte" panose="03060902040502070203" pitchFamily="66" charset="0"/>
              </a:rPr>
              <a:t>        El Lobo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790" y="928780"/>
            <a:ext cx="1438434" cy="1069091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185595" y="8556041"/>
            <a:ext cx="6486810" cy="462686"/>
          </a:xfrm>
          <a:prstGeom prst="roundRect">
            <a:avLst/>
          </a:prstGeom>
          <a:solidFill>
            <a:srgbClr val="EFB3E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i="1" dirty="0" err="1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Cra</a:t>
            </a:r>
            <a:r>
              <a:rPr lang="es-CO" sz="2200" i="1" dirty="0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 14E  </a:t>
            </a:r>
            <a:r>
              <a:rPr lang="es-CO" sz="2200" i="1" dirty="0" err="1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Cll</a:t>
            </a:r>
            <a:r>
              <a:rPr lang="es-CO" sz="2200" i="1" dirty="0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 44 cerca a clínica Medicina Integral y CUMI</a:t>
            </a:r>
          </a:p>
        </p:txBody>
      </p:sp>
      <p:sp>
        <p:nvSpPr>
          <p:cNvPr id="8" name="Rectángulo 7"/>
          <p:cNvSpPr/>
          <p:nvPr/>
        </p:nvSpPr>
        <p:spPr>
          <a:xfrm>
            <a:off x="996987" y="8019240"/>
            <a:ext cx="5616976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s-CO" sz="1800" dirty="0">
                <a:latin typeface="Monotype Corsiva" panose="03010101010201010101" pitchFamily="66" charset="0"/>
              </a:rPr>
              <a:t>Domicilios: </a:t>
            </a:r>
            <a:r>
              <a:rPr lang="es-CO" sz="2000" b="1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301 257 3696 - 3025403948</a:t>
            </a:r>
            <a:endParaRPr lang="es-CO" sz="1600" dirty="0"/>
          </a:p>
        </p:txBody>
      </p:sp>
      <p:pic>
        <p:nvPicPr>
          <p:cNvPr id="9" name="Picture 6" descr="Image result for whatsapp logo 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421" y="7991315"/>
            <a:ext cx="422894" cy="42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/>
          <p:cNvSpPr txBox="1"/>
          <p:nvPr/>
        </p:nvSpPr>
        <p:spPr>
          <a:xfrm>
            <a:off x="1824840" y="3413978"/>
            <a:ext cx="3495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>
                <a:latin typeface="Forte" panose="03060902040502070203" pitchFamily="66" charset="0"/>
              </a:rPr>
              <a:t>Almuerzos Caseros</a:t>
            </a:r>
          </a:p>
        </p:txBody>
      </p:sp>
      <p:sp>
        <p:nvSpPr>
          <p:cNvPr id="11" name="Marcador de contenido 2"/>
          <p:cNvSpPr txBox="1">
            <a:spLocks/>
          </p:cNvSpPr>
          <p:nvPr/>
        </p:nvSpPr>
        <p:spPr>
          <a:xfrm>
            <a:off x="178693" y="3614069"/>
            <a:ext cx="3829658" cy="46265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28588" indent="-128588" algn="l" defTabSz="51435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57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29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72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000" b="1" dirty="0">
                <a:solidFill>
                  <a:srgbClr val="FF0000"/>
                </a:solidFill>
                <a:latin typeface="Arial Narrow" panose="020B0606020202030204" pitchFamily="34" charset="0"/>
                <a:ea typeface="Malgun Gothic" panose="020B0503020000020004" pitchFamily="34" charset="-127"/>
              </a:rPr>
              <a:t>CASEROS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1600" b="1" dirty="0">
                <a:latin typeface="Arial Narrow" panose="020B0606020202030204" pitchFamily="34" charset="0"/>
                <a:ea typeface="Malgun Gothic" panose="020B0503020000020004" pitchFamily="34" charset="-127"/>
              </a:rPr>
              <a:t>Sopas de Pollo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1600" b="1" dirty="0">
                <a:latin typeface="Arial Narrow" panose="020B0606020202030204" pitchFamily="34" charset="0"/>
                <a:ea typeface="Malgun Gothic" panose="020B0503020000020004" pitchFamily="34" charset="-127"/>
              </a:rPr>
              <a:t>Sopas de Frijol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1600" b="1" dirty="0">
                <a:latin typeface="Arial Narrow" panose="020B0606020202030204" pitchFamily="34" charset="0"/>
                <a:ea typeface="Malgun Gothic" panose="020B0503020000020004" pitchFamily="34" charset="-127"/>
              </a:rPr>
              <a:t>Pollo Frito</a:t>
            </a:r>
          </a:p>
          <a:p>
            <a:pPr marL="0" indent="0">
              <a:buNone/>
            </a:pPr>
            <a:r>
              <a:rPr lang="es-CO" sz="1600" b="1" dirty="0">
                <a:latin typeface="Arial Narrow" panose="020B0606020202030204" pitchFamily="34" charset="0"/>
                <a:ea typeface="Malgun Gothic" panose="020B0503020000020004" pitchFamily="34" charset="-127"/>
              </a:rPr>
              <a:t>Pollo Apanado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1600" b="1" dirty="0">
                <a:latin typeface="Arial Narrow" panose="020B0606020202030204" pitchFamily="34" charset="0"/>
                <a:ea typeface="Malgun Gothic" panose="020B0503020000020004" pitchFamily="34" charset="-127"/>
              </a:rPr>
              <a:t>Carne guisada en zumo de coco</a:t>
            </a:r>
          </a:p>
          <a:p>
            <a:pPr marL="0" indent="0">
              <a:buNone/>
            </a:pPr>
            <a:r>
              <a:rPr lang="es-CO" sz="1600" b="1" dirty="0">
                <a:latin typeface="Arial Narrow" panose="020B0606020202030204" pitchFamily="34" charset="0"/>
                <a:ea typeface="Malgun Gothic" panose="020B0503020000020004" pitchFamily="34" charset="-127"/>
              </a:rPr>
              <a:t>Chuleta frita-BBQ</a:t>
            </a:r>
          </a:p>
          <a:p>
            <a:pPr marL="0" indent="0">
              <a:buNone/>
            </a:pPr>
            <a:r>
              <a:rPr lang="es-CO" sz="1600" b="1" dirty="0">
                <a:latin typeface="Arial Narrow" panose="020B0606020202030204" pitchFamily="34" charset="0"/>
                <a:ea typeface="Malgun Gothic" panose="020B0503020000020004" pitchFamily="34" charset="-127"/>
              </a:rPr>
              <a:t>Carne molida</a:t>
            </a:r>
          </a:p>
          <a:p>
            <a:pPr marL="0" indent="0">
              <a:buNone/>
            </a:pPr>
            <a:r>
              <a:rPr lang="es-CO" sz="1600" b="1" dirty="0">
                <a:latin typeface="Arial Narrow" panose="020B0606020202030204" pitchFamily="34" charset="0"/>
                <a:ea typeface="Malgun Gothic" panose="020B0503020000020004" pitchFamily="34" charset="-127"/>
              </a:rPr>
              <a:t>Arroz blanco </a:t>
            </a:r>
          </a:p>
          <a:p>
            <a:pPr marL="0" indent="0">
              <a:buNone/>
            </a:pPr>
            <a:r>
              <a:rPr lang="es-CO" sz="1600" b="1" dirty="0">
                <a:latin typeface="Arial Narrow" panose="020B0606020202030204" pitchFamily="34" charset="0"/>
                <a:ea typeface="Malgun Gothic" panose="020B0503020000020004" pitchFamily="34" charset="-127"/>
              </a:rPr>
              <a:t>Arroz de cebolla </a:t>
            </a:r>
            <a:br>
              <a:rPr lang="es-CO" sz="1600" b="1" dirty="0">
                <a:latin typeface="Arial Narrow" panose="020B0606020202030204" pitchFamily="34" charset="0"/>
                <a:ea typeface="Malgun Gothic" panose="020B0503020000020004" pitchFamily="34" charset="-127"/>
              </a:rPr>
            </a:br>
            <a:endParaRPr lang="es-CO" sz="1600" b="1" dirty="0">
              <a:latin typeface="Arial Narrow" panose="020B0606020202030204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lang="es-CO" sz="1600" b="1" dirty="0">
                <a:latin typeface="Arial Narrow" panose="020B0606020202030204" pitchFamily="34" charset="0"/>
                <a:ea typeface="Malgun Gothic" panose="020B0503020000020004" pitchFamily="34" charset="-127"/>
              </a:rPr>
              <a:t> </a:t>
            </a:r>
            <a:endParaRPr lang="es-CO" sz="1200" b="1" dirty="0">
              <a:latin typeface="Arial Narrow" panose="020B0606020202030204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lang="es-CO" sz="1600" b="1" dirty="0">
                <a:solidFill>
                  <a:srgbClr val="FF0000"/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Harina del día: Tajada o </a:t>
            </a:r>
            <a:r>
              <a:rPr lang="es-CO" sz="1600" b="1" dirty="0" err="1">
                <a:solidFill>
                  <a:srgbClr val="FF0000"/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patacon</a:t>
            </a:r>
            <a:r>
              <a:rPr lang="es-CO" sz="1600" b="1" dirty="0">
                <a:solidFill>
                  <a:srgbClr val="FF0000"/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 </a:t>
            </a:r>
          </a:p>
          <a:p>
            <a:pPr marL="0" indent="0">
              <a:buNone/>
            </a:pPr>
            <a:endParaRPr lang="es-CO" sz="1600" b="1" dirty="0">
              <a:solidFill>
                <a:srgbClr val="FF0000"/>
              </a:solidFill>
              <a:latin typeface="Arial Narrow" panose="020B060602020203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CO" sz="1400" dirty="0"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BANCOLOMBIA</a:t>
            </a:r>
            <a:r>
              <a:rPr lang="es-CO" sz="1400" dirty="0">
                <a:solidFill>
                  <a:srgbClr val="FF0000"/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</a:t>
            </a:r>
            <a:r>
              <a:rPr lang="es-CO" sz="1400" dirty="0"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520-171342-18</a:t>
            </a:r>
          </a:p>
          <a:p>
            <a:pPr marL="0" indent="0">
              <a:buNone/>
            </a:pPr>
            <a:r>
              <a:rPr lang="es-CO" sz="1400" dirty="0"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NEQUI 311 367 9359</a:t>
            </a:r>
          </a:p>
        </p:txBody>
      </p:sp>
      <p:sp>
        <p:nvSpPr>
          <p:cNvPr id="12" name="Marcador de contenido 2"/>
          <p:cNvSpPr txBox="1">
            <a:spLocks/>
          </p:cNvSpPr>
          <p:nvPr/>
        </p:nvSpPr>
        <p:spPr>
          <a:xfrm>
            <a:off x="3429001" y="5318449"/>
            <a:ext cx="3184962" cy="2619669"/>
          </a:xfrm>
          <a:prstGeom prst="rect">
            <a:avLst/>
          </a:prstGeom>
          <a:noFill/>
        </p:spPr>
        <p:txBody>
          <a:bodyPr>
            <a:normAutofit fontScale="85000" lnSpcReduction="10000"/>
          </a:bodyPr>
          <a:lstStyle>
            <a:lvl1pPr marL="128588" indent="-128588" algn="l" defTabSz="51435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57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29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72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200" dirty="0">
                <a:latin typeface="Tw Cen MT" panose="020B0602020104020603" pitchFamily="34" charset="0"/>
                <a:ea typeface="Malgun Gothic" panose="020B0503020000020004" pitchFamily="34" charset="-127"/>
              </a:rPr>
              <a:t>Completo :           </a:t>
            </a:r>
            <a:r>
              <a:rPr lang="es-CO" sz="2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$ 13.000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2200" dirty="0">
                <a:latin typeface="Tw Cen MT" panose="020B0602020104020603" pitchFamily="34" charset="0"/>
                <a:ea typeface="Malgun Gothic" panose="020B0503020000020004" pitchFamily="34" charset="-127"/>
              </a:rPr>
              <a:t>Seco:	                   </a:t>
            </a:r>
            <a:r>
              <a:rPr lang="es-CO" sz="2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$ 11.000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2200" dirty="0">
                <a:latin typeface="Tw Cen MT" panose="020B0602020104020603" pitchFamily="34" charset="0"/>
                <a:ea typeface="Malgun Gothic" panose="020B0503020000020004" pitchFamily="34" charset="-127"/>
              </a:rPr>
              <a:t>Porción. Sopa :      </a:t>
            </a:r>
            <a:r>
              <a:rPr lang="es-CO" sz="2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$ 7.000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2200" dirty="0">
                <a:latin typeface="Tw Cen MT" panose="020B0602020104020603" pitchFamily="34" charset="0"/>
                <a:ea typeface="Malgun Gothic" panose="020B0503020000020004" pitchFamily="34" charset="-127"/>
              </a:rPr>
              <a:t>Porción Arroz:       </a:t>
            </a:r>
            <a:r>
              <a:rPr lang="es-CO" sz="2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$ 3.000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CO" sz="22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2200" dirty="0">
                <a:latin typeface="Tw Cen MT" panose="020B0602020104020603" pitchFamily="34" charset="0"/>
                <a:ea typeface="Malgun Gothic" panose="020B0503020000020004" pitchFamily="34" charset="-127"/>
              </a:rPr>
              <a:t>Asados(130gr) </a:t>
            </a:r>
            <a:r>
              <a:rPr lang="es-CO" sz="2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$15.000</a:t>
            </a:r>
          </a:p>
          <a:p>
            <a:pPr marL="0" indent="0">
              <a:buNone/>
            </a:pPr>
            <a:r>
              <a:rPr lang="es-CO" sz="1400" dirty="0">
                <a:solidFill>
                  <a:srgbClr val="FF0000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(Incluye sopa, arroz, ensalada y jugo)</a:t>
            </a:r>
            <a:endParaRPr lang="es-CO" sz="2100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2200" dirty="0">
                <a:latin typeface="Tw Cen MT" panose="020B0602020104020603" pitchFamily="34" charset="0"/>
                <a:ea typeface="Malgun Gothic" panose="020B0503020000020004" pitchFamily="34" charset="-127"/>
              </a:rPr>
              <a:t>Asados (200gr</a:t>
            </a:r>
            <a:r>
              <a:rPr lang="es-CO" sz="2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) $18.000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1400" dirty="0">
                <a:solidFill>
                  <a:srgbClr val="FF0000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(Incluye patacones, ensalada y jugo)</a:t>
            </a:r>
          </a:p>
        </p:txBody>
      </p:sp>
      <p:cxnSp>
        <p:nvCxnSpPr>
          <p:cNvPr id="14" name="Conector recto 13"/>
          <p:cNvCxnSpPr/>
          <p:nvPr/>
        </p:nvCxnSpPr>
        <p:spPr>
          <a:xfrm flipV="1">
            <a:off x="3217985" y="4095573"/>
            <a:ext cx="13303" cy="3448227"/>
          </a:xfrm>
          <a:prstGeom prst="line">
            <a:avLst/>
          </a:prstGeom>
          <a:ln w="28575">
            <a:solidFill>
              <a:srgbClr val="66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Resultado de imagen para pollo frito">
            <a:extLst>
              <a:ext uri="{FF2B5EF4-FFF2-40B4-BE49-F238E27FC236}">
                <a16:creationId xmlns:a16="http://schemas.microsoft.com/office/drawing/2014/main" id="{911B7999-625C-27DA-519A-63456400F5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82"/>
          <a:stretch/>
        </p:blipFill>
        <p:spPr bwMode="auto">
          <a:xfrm>
            <a:off x="3751403" y="3711858"/>
            <a:ext cx="2151954" cy="15131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566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CB16E-11E6-A306-8DDC-763074AA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998944-7BC9-BB9B-581B-3C642CD83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6492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57785" y="0"/>
            <a:ext cx="5742432" cy="8342006"/>
          </a:xfrm>
          <a:prstGeom prst="rect">
            <a:avLst/>
          </a:prstGeom>
          <a:solidFill>
            <a:srgbClr val="FFD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/>
          </a:p>
        </p:txBody>
      </p:sp>
      <p:sp>
        <p:nvSpPr>
          <p:cNvPr id="3" name="CuadroTexto 2"/>
          <p:cNvSpPr txBox="1"/>
          <p:nvPr/>
        </p:nvSpPr>
        <p:spPr>
          <a:xfrm>
            <a:off x="662941" y="5669279"/>
            <a:ext cx="55321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solidFill>
                  <a:srgbClr val="663300"/>
                </a:solidFill>
                <a:latin typeface="Tw Cen MT" panose="020B0602020104020603" pitchFamily="34" charset="0"/>
              </a:rPr>
              <a:t>Estimados clientes,</a:t>
            </a:r>
          </a:p>
          <a:p>
            <a:pPr algn="ctr"/>
            <a:r>
              <a:rPr lang="es-CO" sz="2000" dirty="0">
                <a:solidFill>
                  <a:srgbClr val="663300"/>
                </a:solidFill>
                <a:latin typeface="Tw Cen MT" panose="020B0602020104020603" pitchFamily="34" charset="0"/>
              </a:rPr>
              <a:t>Debido al incremento que se ha venido presentando en el costo de algunos alimentos en los últimos días, nos vemos en la necesidad de aumentar en $500 pesitos el valor de nuestro producto a partir del próximo lunes 22 de julio.</a:t>
            </a:r>
          </a:p>
          <a:p>
            <a:pPr algn="ctr"/>
            <a:r>
              <a:rPr lang="es-CO" sz="2000" dirty="0">
                <a:solidFill>
                  <a:srgbClr val="663300"/>
                </a:solidFill>
                <a:latin typeface="Tw Cen MT" panose="020B0602020104020603" pitchFamily="34" charset="0"/>
              </a:rPr>
              <a:t>Agradecemos su atención y comprensión, los invitamos a seguir consumiendo nuestras delicias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271454" y="3395992"/>
            <a:ext cx="2315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>
                <a:solidFill>
                  <a:schemeClr val="accent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Comidas Rápidas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1927782" y="3803905"/>
            <a:ext cx="30024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5400" dirty="0">
                <a:solidFill>
                  <a:srgbClr val="996633"/>
                </a:solidFill>
                <a:latin typeface="Forte" panose="03060902040502070203" pitchFamily="66" charset="0"/>
              </a:rPr>
              <a:t>El Lobo</a:t>
            </a:r>
          </a:p>
        </p:txBody>
      </p:sp>
      <p:cxnSp>
        <p:nvCxnSpPr>
          <p:cNvPr id="11" name="Conector recto 10"/>
          <p:cNvCxnSpPr/>
          <p:nvPr/>
        </p:nvCxnSpPr>
        <p:spPr>
          <a:xfrm>
            <a:off x="1272894" y="4727235"/>
            <a:ext cx="4312215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1124712" y="4773168"/>
            <a:ext cx="460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dirty="0">
                <a:solidFill>
                  <a:srgbClr val="FF6600"/>
                </a:solidFill>
                <a:latin typeface="Bahnschrift SemiBold Condensed" panose="020B0502040204020203" pitchFamily="34" charset="0"/>
              </a:rPr>
              <a:t>Almuerzos</a:t>
            </a:r>
          </a:p>
        </p:txBody>
      </p:sp>
      <p:cxnSp>
        <p:nvCxnSpPr>
          <p:cNvPr id="14" name="Conector recto 13"/>
          <p:cNvCxnSpPr/>
          <p:nvPr/>
        </p:nvCxnSpPr>
        <p:spPr>
          <a:xfrm>
            <a:off x="1272894" y="3395990"/>
            <a:ext cx="4312215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-1" y="8378582"/>
            <a:ext cx="6858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 err="1">
                <a:latin typeface="Monotype Corsiva" panose="03010101010201010101" pitchFamily="66" charset="0"/>
                <a:ea typeface="Malgun Gothic" panose="020B0503020000020004" pitchFamily="34" charset="-127"/>
              </a:rPr>
              <a:t>Cra</a:t>
            </a:r>
            <a:r>
              <a:rPr lang="es-CO" sz="2000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 14 E # 44, Esquina – Portal de Almería</a:t>
            </a:r>
          </a:p>
        </p:txBody>
      </p:sp>
      <p:pic>
        <p:nvPicPr>
          <p:cNvPr id="16" name="Picture 6" descr="Image result for whatsapp logo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882" y="8778693"/>
            <a:ext cx="308125" cy="30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/>
          <p:cNvSpPr txBox="1"/>
          <p:nvPr/>
        </p:nvSpPr>
        <p:spPr>
          <a:xfrm>
            <a:off x="1920655" y="8661562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>
                <a:latin typeface="Monotype Corsiva" panose="03010101010201010101" pitchFamily="66" charset="0"/>
              </a:rPr>
              <a:t>Domicilios: </a:t>
            </a:r>
            <a:r>
              <a:rPr lang="es-CO" sz="2800" b="1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301 257 3696</a:t>
            </a:r>
          </a:p>
        </p:txBody>
      </p:sp>
      <p:cxnSp>
        <p:nvCxnSpPr>
          <p:cNvPr id="18" name="Conector recto 17"/>
          <p:cNvCxnSpPr/>
          <p:nvPr/>
        </p:nvCxnSpPr>
        <p:spPr>
          <a:xfrm>
            <a:off x="-1" y="8342006"/>
            <a:ext cx="6858001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882" y="292607"/>
            <a:ext cx="3564773" cy="297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5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1488" y="50587"/>
            <a:ext cx="5915025" cy="1767417"/>
          </a:xfrm>
        </p:spPr>
        <p:txBody>
          <a:bodyPr>
            <a:noAutofit/>
          </a:bodyPr>
          <a:lstStyle/>
          <a:p>
            <a:r>
              <a:rPr lang="es-CO" sz="4801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orte" panose="03060902040502070203" pitchFamily="66" charset="0"/>
              </a:rPr>
              <a:t>		Comidas Rápidas</a:t>
            </a:r>
            <a:br>
              <a:rPr lang="es-CO" sz="4801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orte" panose="03060902040502070203" pitchFamily="66" charset="0"/>
              </a:rPr>
            </a:br>
            <a:r>
              <a:rPr lang="es-CO" sz="4801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orte" panose="03060902040502070203" pitchFamily="66" charset="0"/>
              </a:rPr>
              <a:t>        		El Lobo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468118"/>
          </a:xfrm>
          <a:noFill/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s-CO" sz="25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lang="es-CO" sz="25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lang="es-CO" sz="28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lang="es-CO" sz="36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MENÚ  1</a:t>
            </a:r>
          </a:p>
          <a:p>
            <a:pPr marL="0" indent="0">
              <a:buNone/>
            </a:pPr>
            <a:endParaRPr lang="es-CO" sz="28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lang="es-CO" sz="4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Sopas de Pescado</a:t>
            </a:r>
          </a:p>
          <a:p>
            <a:pPr marL="0" indent="0">
              <a:buNone/>
            </a:pPr>
            <a:r>
              <a:rPr lang="es-CO" sz="4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Arroz de Frijolito</a:t>
            </a:r>
          </a:p>
          <a:p>
            <a:pPr marL="0" indent="0">
              <a:buNone/>
            </a:pPr>
            <a:r>
              <a:rPr lang="es-CO" sz="4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Arroz Blanco</a:t>
            </a:r>
          </a:p>
          <a:p>
            <a:pPr marL="0" indent="0">
              <a:buNone/>
            </a:pPr>
            <a:r>
              <a:rPr lang="es-CO" sz="4200" b="1" dirty="0" err="1">
                <a:latin typeface="Tw Cen MT" panose="020B0602020104020603" pitchFamily="34" charset="0"/>
                <a:ea typeface="Malgun Gothic" panose="020B0503020000020004" pitchFamily="34" charset="-127"/>
              </a:rPr>
              <a:t>Fricaché</a:t>
            </a:r>
            <a:r>
              <a:rPr lang="es-CO" sz="4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 de Bagre</a:t>
            </a:r>
          </a:p>
          <a:p>
            <a:pPr marL="0" indent="0">
              <a:buNone/>
            </a:pPr>
            <a:r>
              <a:rPr lang="es-CO" sz="4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Pechuga Asada</a:t>
            </a:r>
          </a:p>
          <a:p>
            <a:pPr marL="0" indent="0">
              <a:buNone/>
            </a:pPr>
            <a:r>
              <a:rPr lang="es-CO" sz="4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Tilapia Roja frita</a:t>
            </a:r>
          </a:p>
          <a:p>
            <a:pPr marL="0" indent="0">
              <a:buNone/>
            </a:pPr>
            <a:endParaRPr lang="es-CO" sz="25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lang="es-CO" sz="25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lang="es-CO" sz="3800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Completo :      </a:t>
            </a:r>
            <a:r>
              <a:rPr lang="es-CO" sz="38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$ 8,000</a:t>
            </a:r>
          </a:p>
          <a:p>
            <a:pPr marL="0" indent="0">
              <a:buNone/>
            </a:pPr>
            <a:r>
              <a:rPr lang="es-CO" sz="3800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Seco:	             </a:t>
            </a:r>
            <a:r>
              <a:rPr lang="es-CO" sz="38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$ 7,000</a:t>
            </a:r>
          </a:p>
          <a:p>
            <a:pPr marL="0" indent="0">
              <a:buNone/>
            </a:pPr>
            <a:r>
              <a:rPr lang="es-CO" sz="3800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Porc</a:t>
            </a:r>
            <a:r>
              <a:rPr lang="es-CO" sz="3800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. Sopa :    </a:t>
            </a:r>
            <a:r>
              <a:rPr lang="es-CO" sz="38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$ 4.000</a:t>
            </a:r>
          </a:p>
          <a:p>
            <a:pPr marL="0" indent="0">
              <a:buNone/>
            </a:pPr>
            <a:r>
              <a:rPr lang="es-CO" sz="3800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Porc</a:t>
            </a:r>
            <a:r>
              <a:rPr lang="es-CO" sz="3800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. Arroz      </a:t>
            </a:r>
            <a:r>
              <a:rPr lang="es-CO" sz="38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$ 2.500</a:t>
            </a:r>
          </a:p>
          <a:p>
            <a:pPr marL="0" indent="0">
              <a:buNone/>
            </a:pPr>
            <a:endParaRPr lang="es-CO" sz="25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lang="es-CO" sz="25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lang="es-CO" sz="2400" b="1" dirty="0">
              <a:solidFill>
                <a:srgbClr val="7030A0"/>
              </a:solidFill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lang="es-CO" sz="3800" b="1" dirty="0">
                <a:solidFill>
                  <a:schemeClr val="accent5">
                    <a:lumMod val="5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Harina del día: Yuca Cocida</a:t>
            </a:r>
          </a:p>
          <a:p>
            <a:pPr marL="0" indent="0">
              <a:buNone/>
            </a:pPr>
            <a:r>
              <a:rPr lang="es-CO" sz="3800" b="1" dirty="0">
                <a:solidFill>
                  <a:schemeClr val="accent5">
                    <a:lumMod val="50000"/>
                  </a:schemeClr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Ensalada de Payaso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sz="half" idx="2"/>
          </p:nvPr>
        </p:nvSpPr>
        <p:spPr>
          <a:xfrm>
            <a:off x="3471862" y="2434167"/>
            <a:ext cx="3093529" cy="5468118"/>
          </a:xfrm>
        </p:spPr>
        <p:txBody>
          <a:bodyPr>
            <a:normAutofit fontScale="40000" lnSpcReduction="20000"/>
          </a:bodyPr>
          <a:lstStyle/>
          <a:p>
            <a:endParaRPr lang="es-CO" dirty="0"/>
          </a:p>
          <a:p>
            <a:endParaRPr lang="es-CO" dirty="0"/>
          </a:p>
          <a:p>
            <a:pPr marL="0" indent="0">
              <a:buNone/>
            </a:pPr>
            <a:endParaRPr lang="es-CO" sz="28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lang="es-CO" sz="36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MENÚ  2</a:t>
            </a:r>
          </a:p>
          <a:p>
            <a:pPr marL="0" indent="0">
              <a:buNone/>
            </a:pPr>
            <a:endParaRPr lang="es-CO" sz="28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lang="es-CO" sz="4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Sopas de Hueso</a:t>
            </a:r>
          </a:p>
          <a:p>
            <a:pPr marL="0" indent="0">
              <a:buNone/>
            </a:pPr>
            <a:r>
              <a:rPr lang="es-CO" sz="4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Arroz de Frijolito</a:t>
            </a:r>
          </a:p>
          <a:p>
            <a:pPr marL="0" indent="0">
              <a:buNone/>
            </a:pPr>
            <a:r>
              <a:rPr lang="es-CO" sz="4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Arroz Blanco</a:t>
            </a:r>
          </a:p>
          <a:p>
            <a:pPr marL="0" indent="0">
              <a:buNone/>
            </a:pPr>
            <a:r>
              <a:rPr lang="es-CO" sz="4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Carne Asada</a:t>
            </a:r>
          </a:p>
          <a:p>
            <a:pPr marL="0" indent="0">
              <a:buNone/>
            </a:pPr>
            <a:r>
              <a:rPr lang="es-CO" sz="42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Cerdo Asado</a:t>
            </a:r>
          </a:p>
          <a:p>
            <a:pPr marL="0" indent="0">
              <a:buNone/>
            </a:pPr>
            <a:endParaRPr lang="es-CO" sz="25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lang="es-CO" sz="2800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lang="es-CO" sz="3800" dirty="0">
                <a:latin typeface="Tw Cen MT" panose="020B0602020104020603" pitchFamily="34" charset="0"/>
                <a:ea typeface="Malgun Gothic" panose="020B0503020000020004" pitchFamily="34" charset="-127"/>
              </a:rPr>
              <a:t>Completo :      </a:t>
            </a:r>
            <a:r>
              <a:rPr lang="es-CO" sz="38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$ 7,500</a:t>
            </a:r>
          </a:p>
          <a:p>
            <a:pPr marL="0" indent="0">
              <a:buNone/>
            </a:pPr>
            <a:r>
              <a:rPr lang="es-CO" sz="3800" dirty="0">
                <a:latin typeface="Tw Cen MT" panose="020B0602020104020603" pitchFamily="34" charset="0"/>
                <a:ea typeface="Malgun Gothic" panose="020B0503020000020004" pitchFamily="34" charset="-127"/>
              </a:rPr>
              <a:t>Seco:	             </a:t>
            </a:r>
            <a:r>
              <a:rPr lang="es-CO" sz="38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$ 6,500</a:t>
            </a:r>
          </a:p>
          <a:p>
            <a:pPr marL="0" indent="0">
              <a:buNone/>
            </a:pPr>
            <a:r>
              <a:rPr lang="es-CO" sz="3800" dirty="0" err="1">
                <a:latin typeface="Tw Cen MT" panose="020B0602020104020603" pitchFamily="34" charset="0"/>
                <a:ea typeface="Malgun Gothic" panose="020B0503020000020004" pitchFamily="34" charset="-127"/>
              </a:rPr>
              <a:t>Porc</a:t>
            </a:r>
            <a:r>
              <a:rPr lang="es-CO" sz="3800" dirty="0">
                <a:latin typeface="Tw Cen MT" panose="020B0602020104020603" pitchFamily="34" charset="0"/>
                <a:ea typeface="Malgun Gothic" panose="020B0503020000020004" pitchFamily="34" charset="-127"/>
              </a:rPr>
              <a:t>. Sopa :    </a:t>
            </a:r>
            <a:r>
              <a:rPr lang="es-CO" sz="38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$ 3.500</a:t>
            </a:r>
          </a:p>
          <a:p>
            <a:pPr marL="0" indent="0">
              <a:buNone/>
            </a:pPr>
            <a:r>
              <a:rPr lang="es-CO" sz="3800" dirty="0" err="1">
                <a:latin typeface="Tw Cen MT" panose="020B0602020104020603" pitchFamily="34" charset="0"/>
                <a:ea typeface="Malgun Gothic" panose="020B0503020000020004" pitchFamily="34" charset="-127"/>
              </a:rPr>
              <a:t>Porc</a:t>
            </a:r>
            <a:r>
              <a:rPr lang="es-CO" sz="3800" dirty="0">
                <a:latin typeface="Tw Cen MT" panose="020B0602020104020603" pitchFamily="34" charset="0"/>
                <a:ea typeface="Malgun Gothic" panose="020B0503020000020004" pitchFamily="34" charset="-127"/>
              </a:rPr>
              <a:t>. Arroz      </a:t>
            </a:r>
            <a:r>
              <a:rPr lang="es-CO" sz="3800" b="1" dirty="0">
                <a:latin typeface="Tw Cen MT" panose="020B0602020104020603" pitchFamily="34" charset="0"/>
                <a:ea typeface="Malgun Gothic" panose="020B0503020000020004" pitchFamily="34" charset="-127"/>
              </a:rPr>
              <a:t>$ 2.500</a:t>
            </a:r>
          </a:p>
          <a:p>
            <a:pPr marL="0" indent="0">
              <a:buNone/>
            </a:pPr>
            <a:endParaRPr lang="es-CO" sz="2500" b="1" dirty="0">
              <a:latin typeface="Tw Cen MT" panose="020B0602020104020603" pitchFamily="34" charset="0"/>
              <a:ea typeface="Malgun Gothic" panose="020B0503020000020004" pitchFamily="34" charset="-127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009" y="1861105"/>
            <a:ext cx="6848857" cy="107721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s-CO" sz="4400" b="1" dirty="0">
                <a:latin typeface="Comic Sans MS" panose="030F0702030302020204" pitchFamily="66" charset="0"/>
                <a:ea typeface="Malgun Gothic" panose="020B0503020000020004" pitchFamily="34" charset="-127"/>
              </a:rPr>
              <a:t>Almuerzos</a:t>
            </a:r>
          </a:p>
          <a:p>
            <a:pPr algn="ctr"/>
            <a:r>
              <a:rPr lang="es-CO" sz="2000" b="1" dirty="0">
                <a:solidFill>
                  <a:srgbClr val="FF0000"/>
                </a:solidFill>
                <a:latin typeface="Comic Sans MS" panose="030F0702030302020204" pitchFamily="66" charset="0"/>
                <a:ea typeface="Malgun Gothic" panose="020B0503020000020004" pitchFamily="34" charset="-127"/>
              </a:rPr>
              <a:t>CASEROS</a:t>
            </a:r>
          </a:p>
        </p:txBody>
      </p:sp>
      <p:cxnSp>
        <p:nvCxnSpPr>
          <p:cNvPr id="9" name="Conector recto 8"/>
          <p:cNvCxnSpPr/>
          <p:nvPr/>
        </p:nvCxnSpPr>
        <p:spPr>
          <a:xfrm>
            <a:off x="3416997" y="3074842"/>
            <a:ext cx="1" cy="4079776"/>
          </a:xfrm>
          <a:prstGeom prst="line">
            <a:avLst/>
          </a:prstGeom>
          <a:ln w="12700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6" descr="Image result for whatsapp logo 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215" y="8426221"/>
            <a:ext cx="308125" cy="30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/>
          <p:cNvSpPr txBox="1"/>
          <p:nvPr/>
        </p:nvSpPr>
        <p:spPr>
          <a:xfrm>
            <a:off x="1159574" y="8310963"/>
            <a:ext cx="46817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>
                <a:solidFill>
                  <a:schemeClr val="bg1"/>
                </a:solidFill>
                <a:latin typeface="Monotype Corsiva" panose="03010101010201010101" pitchFamily="66" charset="0"/>
              </a:rPr>
              <a:t>     </a:t>
            </a:r>
            <a:r>
              <a:rPr lang="es-CO" sz="2400" dirty="0">
                <a:latin typeface="Monotype Corsiva" panose="03010101010201010101" pitchFamily="66" charset="0"/>
              </a:rPr>
              <a:t>Domicilios: </a:t>
            </a:r>
            <a:r>
              <a:rPr lang="es-CO" sz="2800" b="1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301 257 3696</a:t>
            </a:r>
          </a:p>
          <a:p>
            <a:pPr algn="ctr"/>
            <a:r>
              <a:rPr lang="es-CO" sz="1800" dirty="0" err="1">
                <a:latin typeface="Century Schoolbook" panose="02040604050505020304" pitchFamily="18" charset="0"/>
                <a:ea typeface="Malgun Gothic" panose="020B0503020000020004" pitchFamily="34" charset="-127"/>
              </a:rPr>
              <a:t>Cra</a:t>
            </a:r>
            <a:r>
              <a:rPr lang="es-CO" sz="1800" dirty="0">
                <a:latin typeface="Century Schoolbook" panose="02040604050505020304" pitchFamily="18" charset="0"/>
                <a:ea typeface="Malgun Gothic" panose="020B0503020000020004" pitchFamily="34" charset="-127"/>
              </a:rPr>
              <a:t> 14E  </a:t>
            </a:r>
            <a:r>
              <a:rPr lang="es-CO" sz="1800" dirty="0" err="1">
                <a:latin typeface="Century Schoolbook" panose="02040604050505020304" pitchFamily="18" charset="0"/>
                <a:ea typeface="Malgun Gothic" panose="020B0503020000020004" pitchFamily="34" charset="-127"/>
              </a:rPr>
              <a:t>Cll</a:t>
            </a:r>
            <a:r>
              <a:rPr lang="es-CO" sz="1800" dirty="0">
                <a:latin typeface="Century Schoolbook" panose="02040604050505020304" pitchFamily="18" charset="0"/>
                <a:ea typeface="Malgun Gothic" panose="020B0503020000020004" pitchFamily="34" charset="-127"/>
              </a:rPr>
              <a:t> 44 cerca a Medicina Integral</a:t>
            </a:r>
          </a:p>
        </p:txBody>
      </p:sp>
      <p:cxnSp>
        <p:nvCxnSpPr>
          <p:cNvPr id="18" name="Conector recto 17"/>
          <p:cNvCxnSpPr/>
          <p:nvPr/>
        </p:nvCxnSpPr>
        <p:spPr>
          <a:xfrm>
            <a:off x="-9145" y="8226847"/>
            <a:ext cx="6858001" cy="0"/>
          </a:xfrm>
          <a:prstGeom prst="line">
            <a:avLst/>
          </a:prstGeom>
          <a:ln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98" y="911194"/>
            <a:ext cx="1438434" cy="1069091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722" y="6620909"/>
            <a:ext cx="2904935" cy="15218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483" y="2193720"/>
            <a:ext cx="1828799" cy="10772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4937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esultado de imagen para sopas de frijol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41"/>
          <a:stretch/>
        </p:blipFill>
        <p:spPr bwMode="auto">
          <a:xfrm>
            <a:off x="2550791" y="-334404"/>
            <a:ext cx="2476655" cy="167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Resultado de imagen para pollo frit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82"/>
          <a:stretch/>
        </p:blipFill>
        <p:spPr bwMode="auto">
          <a:xfrm>
            <a:off x="2550791" y="1759378"/>
            <a:ext cx="2476655" cy="201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4"/>
          <a:srcRect r="6478"/>
          <a:stretch/>
        </p:blipFill>
        <p:spPr>
          <a:xfrm>
            <a:off x="2507015" y="3771065"/>
            <a:ext cx="2472767" cy="148728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89096" y="1646523"/>
            <a:ext cx="2472767" cy="1647200"/>
          </a:xfrm>
          <a:prstGeom prst="rect">
            <a:avLst/>
          </a:prstGeom>
        </p:spPr>
      </p:pic>
      <p:pic>
        <p:nvPicPr>
          <p:cNvPr id="6" name="Picture 2" descr="Resultado de imagen para sopa de lenteja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8" y="-279540"/>
            <a:ext cx="2472767" cy="146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pollo en salsa bbq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80" r="19681"/>
          <a:stretch/>
        </p:blipFill>
        <p:spPr bwMode="auto">
          <a:xfrm>
            <a:off x="-3718687" y="4267453"/>
            <a:ext cx="2472767" cy="172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8"/>
          <a:srcRect r="22856" b="3957"/>
          <a:stretch/>
        </p:blipFill>
        <p:spPr>
          <a:xfrm>
            <a:off x="-77145" y="4616579"/>
            <a:ext cx="2472767" cy="1779615"/>
          </a:xfrm>
          <a:prstGeom prst="rect">
            <a:avLst/>
          </a:prstGeom>
        </p:spPr>
      </p:pic>
      <p:pic>
        <p:nvPicPr>
          <p:cNvPr id="9" name="Picture 4" descr="Image result for carne molida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47" y="3047127"/>
            <a:ext cx="2487991" cy="148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mote de queso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9" t="3968" r="11501"/>
          <a:stretch/>
        </p:blipFill>
        <p:spPr bwMode="auto">
          <a:xfrm>
            <a:off x="-5021634" y="1642793"/>
            <a:ext cx="2487991" cy="189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 result for carne en bistec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8" t="33986"/>
          <a:stretch/>
        </p:blipFill>
        <p:spPr bwMode="auto">
          <a:xfrm>
            <a:off x="71418" y="7614936"/>
            <a:ext cx="2479373" cy="140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48638" y="5010581"/>
            <a:ext cx="2676137" cy="2155764"/>
          </a:xfrm>
          <a:prstGeom prst="rect">
            <a:avLst/>
          </a:prstGeom>
        </p:spPr>
      </p:pic>
      <p:pic>
        <p:nvPicPr>
          <p:cNvPr id="1026" name="Picture 2" descr="Resultado de imagen para carne desmechada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0" b="13120"/>
          <a:stretch/>
        </p:blipFill>
        <p:spPr bwMode="auto">
          <a:xfrm>
            <a:off x="5202568" y="3289993"/>
            <a:ext cx="1655432" cy="1753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593" y="5506387"/>
            <a:ext cx="2469093" cy="1728341"/>
          </a:xfrm>
          <a:prstGeom prst="rect">
            <a:avLst/>
          </a:prstGeom>
        </p:spPr>
      </p:pic>
      <p:pic>
        <p:nvPicPr>
          <p:cNvPr id="15" name="Picture 2" descr="Image result for cerdo bbq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197" y="7304057"/>
            <a:ext cx="2472489" cy="1644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16"/>
          <a:srcRect l="10877" t="-526" r="473" b="4421"/>
          <a:stretch/>
        </p:blipFill>
        <p:spPr>
          <a:xfrm>
            <a:off x="7302547" y="-257913"/>
            <a:ext cx="2723027" cy="1900706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3683809" y="6853982"/>
            <a:ext cx="2543175" cy="1800225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83193" y="5933786"/>
            <a:ext cx="2619375" cy="1548982"/>
          </a:xfrm>
          <a:prstGeom prst="rect">
            <a:avLst/>
          </a:prstGeom>
        </p:spPr>
      </p:pic>
      <p:pic>
        <p:nvPicPr>
          <p:cNvPr id="13" name="Picture 2" descr="La receta de albóndigas de toda la vida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039815"/>
            <a:ext cx="2317262" cy="1303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Alitas bbq caseras | CocinaDelirante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568" y="1337234"/>
            <a:ext cx="2749655" cy="173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215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694" y="6527446"/>
            <a:ext cx="2090125" cy="13872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" name="Cinta curvada hacia arriba 1"/>
          <p:cNvSpPr/>
          <p:nvPr/>
        </p:nvSpPr>
        <p:spPr>
          <a:xfrm>
            <a:off x="475487" y="2121408"/>
            <a:ext cx="6194203" cy="1371600"/>
          </a:xfrm>
          <a:prstGeom prst="ellipseRibbon2">
            <a:avLst>
              <a:gd name="adj1" fmla="val 23750"/>
              <a:gd name="adj2" fmla="val 73255"/>
              <a:gd name="adj3" fmla="val 7500"/>
            </a:avLst>
          </a:prstGeom>
          <a:solidFill>
            <a:srgbClr val="FF66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>
                <a:solidFill>
                  <a:schemeClr val="bg1"/>
                </a:solidFill>
                <a:latin typeface="Impact" panose="020B0806030902050204" pitchFamily="34" charset="0"/>
              </a:rPr>
              <a:t>MENÚ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858249" y="587014"/>
            <a:ext cx="5428678" cy="2008083"/>
          </a:xfrm>
          <a:prstGeom prst="rect">
            <a:avLst/>
          </a:prstGeom>
          <a:noFill/>
        </p:spPr>
        <p:txBody>
          <a:bodyPr wrap="square" rtlCol="0">
            <a:prstTxWarp prst="textButton">
              <a:avLst>
                <a:gd name="adj" fmla="val 10828785"/>
              </a:avLst>
            </a:prstTxWarp>
            <a:spAutoFit/>
          </a:bodyPr>
          <a:lstStyle/>
          <a:p>
            <a:pPr algn="ctr"/>
            <a:r>
              <a:rPr lang="es-CO" sz="480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orte" panose="03060902040502070203" pitchFamily="66" charset="0"/>
              </a:rPr>
              <a:t>Comidas Rápidas</a:t>
            </a:r>
          </a:p>
          <a:p>
            <a:pPr algn="ctr"/>
            <a:r>
              <a:rPr lang="es-CO" sz="480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orte" panose="03060902040502070203" pitchFamily="66" charset="0"/>
              </a:rPr>
              <a:t>        El Lobo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790" y="876025"/>
            <a:ext cx="1438434" cy="1069091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185595" y="8556041"/>
            <a:ext cx="6486810" cy="462686"/>
          </a:xfrm>
          <a:prstGeom prst="roundRect">
            <a:avLst/>
          </a:prstGeom>
          <a:solidFill>
            <a:srgbClr val="FF66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dirty="0" err="1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Cra</a:t>
            </a:r>
            <a:r>
              <a:rPr lang="es-CO" sz="2000" dirty="0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 14E  </a:t>
            </a:r>
            <a:r>
              <a:rPr lang="es-CO" sz="2000" dirty="0" err="1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Cll</a:t>
            </a:r>
            <a:r>
              <a:rPr lang="es-CO" sz="2000" dirty="0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 44 cerca a Medicina Integral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548051" y="7987832"/>
            <a:ext cx="3761898" cy="523220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Monotype Corsiva" panose="03010101010201010101" pitchFamily="66" charset="0"/>
              </a:rPr>
              <a:t> </a:t>
            </a:r>
            <a:r>
              <a:rPr lang="es-CO" sz="2400" dirty="0">
                <a:latin typeface="Monotype Corsiva" panose="03010101010201010101" pitchFamily="66" charset="0"/>
              </a:rPr>
              <a:t>Domicilios: </a:t>
            </a:r>
            <a:r>
              <a:rPr lang="es-CO" sz="2800" b="1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301 257 3696</a:t>
            </a:r>
            <a:endParaRPr lang="es-CO" sz="2000" dirty="0"/>
          </a:p>
        </p:txBody>
      </p:sp>
      <p:pic>
        <p:nvPicPr>
          <p:cNvPr id="9" name="Picture 6" descr="Image result for whatsapp logo 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912" y="8037995"/>
            <a:ext cx="422894" cy="42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/>
          <p:cNvSpPr txBox="1"/>
          <p:nvPr/>
        </p:nvSpPr>
        <p:spPr>
          <a:xfrm>
            <a:off x="2275720" y="3379683"/>
            <a:ext cx="2593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Impact" panose="020B0806030902050204" pitchFamily="34" charset="0"/>
              </a:rPr>
              <a:t>ALMUERZOS</a:t>
            </a:r>
          </a:p>
        </p:txBody>
      </p:sp>
      <p:sp>
        <p:nvSpPr>
          <p:cNvPr id="12" name="Marcador de contenido 2"/>
          <p:cNvSpPr txBox="1">
            <a:spLocks/>
          </p:cNvSpPr>
          <p:nvPr/>
        </p:nvSpPr>
        <p:spPr>
          <a:xfrm>
            <a:off x="6473952" y="6313591"/>
            <a:ext cx="147140" cy="15561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128588" indent="-128588" algn="l" defTabSz="51435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57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29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72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endParaRPr lang="es-CO" sz="2200" b="1" dirty="0">
              <a:solidFill>
                <a:srgbClr val="FF0000"/>
              </a:solidFill>
              <a:latin typeface="Tw Cen MT" panose="020B0602020104020603" pitchFamily="34" charset="0"/>
              <a:ea typeface="Malgun Gothic" panose="020B0503020000020004" pitchFamily="34" charset="-127"/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185595" y="201170"/>
            <a:ext cx="6672405" cy="1870076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7" name="Subtítulo 6"/>
          <p:cNvSpPr>
            <a:spLocks noGrp="1"/>
          </p:cNvSpPr>
          <p:nvPr>
            <p:ph type="subTitle" idx="1"/>
          </p:nvPr>
        </p:nvSpPr>
        <p:spPr>
          <a:xfrm>
            <a:off x="475487" y="4105229"/>
            <a:ext cx="6194203" cy="3349597"/>
          </a:xfrm>
        </p:spPr>
        <p:txBody>
          <a:bodyPr>
            <a:normAutofit/>
          </a:bodyPr>
          <a:lstStyle/>
          <a:p>
            <a:pPr algn="l"/>
            <a:r>
              <a:rPr lang="es-CO" sz="2400" b="1" dirty="0">
                <a:solidFill>
                  <a:schemeClr val="accent1">
                    <a:lumMod val="75000"/>
                  </a:schemeClr>
                </a:solidFill>
              </a:rPr>
              <a:t>MONDONGO….………........................$3500 </a:t>
            </a:r>
          </a:p>
          <a:p>
            <a:pPr algn="l"/>
            <a:r>
              <a:rPr lang="es-CO" sz="2400" b="1" dirty="0">
                <a:solidFill>
                  <a:schemeClr val="accent1">
                    <a:lumMod val="75000"/>
                  </a:schemeClr>
                </a:solidFill>
              </a:rPr>
              <a:t>Porción Arroz blanco …………….……….$2500</a:t>
            </a:r>
          </a:p>
          <a:p>
            <a:pPr algn="l"/>
            <a:r>
              <a:rPr lang="es-CO" sz="2400" b="1" dirty="0">
                <a:solidFill>
                  <a:schemeClr val="accent1">
                    <a:lumMod val="75000"/>
                  </a:schemeClr>
                </a:solidFill>
              </a:rPr>
              <a:t>					      </a:t>
            </a:r>
            <a:r>
              <a:rPr lang="es-CO" sz="2400" b="1" dirty="0">
                <a:solidFill>
                  <a:schemeClr val="accent6">
                    <a:lumMod val="50000"/>
                  </a:schemeClr>
                </a:solidFill>
              </a:rPr>
              <a:t>SECO	     COMPLETO</a:t>
            </a:r>
          </a:p>
          <a:p>
            <a:pPr algn="l"/>
            <a:r>
              <a:rPr lang="es-CO" sz="2400" b="1" dirty="0">
                <a:solidFill>
                  <a:schemeClr val="accent1">
                    <a:lumMod val="75000"/>
                  </a:schemeClr>
                </a:solidFill>
              </a:rPr>
              <a:t>………….$6500		$7500</a:t>
            </a:r>
          </a:p>
          <a:p>
            <a:pPr algn="l"/>
            <a:r>
              <a:rPr lang="es-CO" sz="2400" b="1" dirty="0" err="1">
                <a:solidFill>
                  <a:schemeClr val="accent1">
                    <a:lumMod val="75000"/>
                  </a:schemeClr>
                </a:solidFill>
              </a:rPr>
              <a:t>Sobrebarriga</a:t>
            </a:r>
            <a:r>
              <a:rPr lang="es-CO" sz="2400" b="1" dirty="0">
                <a:solidFill>
                  <a:schemeClr val="accent1">
                    <a:lumMod val="75000"/>
                  </a:schemeClr>
                </a:solidFill>
              </a:rPr>
              <a:t> en salsa….$6500		$7500</a:t>
            </a:r>
          </a:p>
          <a:p>
            <a:pPr algn="l"/>
            <a:r>
              <a:rPr lang="es-CO" sz="2400" b="1" dirty="0" err="1">
                <a:solidFill>
                  <a:schemeClr val="accent1">
                    <a:lumMod val="75000"/>
                  </a:schemeClr>
                </a:solidFill>
              </a:rPr>
              <a:t>Goulash</a:t>
            </a:r>
            <a:r>
              <a:rPr lang="es-CO" sz="2400" b="1" dirty="0">
                <a:solidFill>
                  <a:schemeClr val="accent1">
                    <a:lumMod val="75000"/>
                  </a:schemeClr>
                </a:solidFill>
              </a:rPr>
              <a:t> de Cerdo……….$6500		$7500</a:t>
            </a:r>
          </a:p>
          <a:p>
            <a:pPr algn="l"/>
            <a:r>
              <a:rPr lang="es-CO" sz="2400" b="1" dirty="0">
                <a:solidFill>
                  <a:schemeClr val="accent1">
                    <a:lumMod val="75000"/>
                  </a:schemeClr>
                </a:solidFill>
              </a:rPr>
              <a:t>Pollo Guisado……………..$6500		$7500</a:t>
            </a:r>
          </a:p>
          <a:p>
            <a:pPr algn="l"/>
            <a:r>
              <a:rPr lang="es-CO" sz="2400" b="1" dirty="0">
                <a:solidFill>
                  <a:schemeClr val="accent1">
                    <a:lumMod val="75000"/>
                  </a:schemeClr>
                </a:solidFill>
              </a:rPr>
              <a:t>Tilapia Frita…………………$9000		$10000</a:t>
            </a:r>
          </a:p>
          <a:p>
            <a:pPr algn="l"/>
            <a:endParaRPr lang="es-CO" sz="24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just"/>
            <a:endParaRPr lang="es-CO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149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nta curvada hacia arriba 1"/>
          <p:cNvSpPr/>
          <p:nvPr/>
        </p:nvSpPr>
        <p:spPr>
          <a:xfrm>
            <a:off x="475487" y="2121408"/>
            <a:ext cx="6194203" cy="1371600"/>
          </a:xfrm>
          <a:prstGeom prst="ellipseRibbon2">
            <a:avLst>
              <a:gd name="adj1" fmla="val 23750"/>
              <a:gd name="adj2" fmla="val 73255"/>
              <a:gd name="adj3" fmla="val 7500"/>
            </a:avLst>
          </a:prstGeom>
          <a:solidFill>
            <a:srgbClr val="FF66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>
                <a:solidFill>
                  <a:schemeClr val="bg1"/>
                </a:solidFill>
                <a:latin typeface="Impact" panose="020B0806030902050204" pitchFamily="34" charset="0"/>
              </a:rPr>
              <a:t>DÍA SIN CARRO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858249" y="587014"/>
            <a:ext cx="5428678" cy="2008083"/>
          </a:xfrm>
          <a:prstGeom prst="rect">
            <a:avLst/>
          </a:prstGeom>
          <a:noFill/>
        </p:spPr>
        <p:txBody>
          <a:bodyPr wrap="square" rtlCol="0">
            <a:prstTxWarp prst="textButton">
              <a:avLst>
                <a:gd name="adj" fmla="val 10828785"/>
              </a:avLst>
            </a:prstTxWarp>
            <a:spAutoFit/>
          </a:bodyPr>
          <a:lstStyle/>
          <a:p>
            <a:pPr algn="ctr"/>
            <a:r>
              <a:rPr lang="es-CO" sz="480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orte" panose="03060902040502070203" pitchFamily="66" charset="0"/>
              </a:rPr>
              <a:t>Comidas Rápidas</a:t>
            </a:r>
          </a:p>
          <a:p>
            <a:pPr algn="ctr"/>
            <a:r>
              <a:rPr lang="es-CO" sz="480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orte" panose="03060902040502070203" pitchFamily="66" charset="0"/>
              </a:rPr>
              <a:t>        El Lobo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790" y="876025"/>
            <a:ext cx="1438434" cy="1069091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185595" y="8556041"/>
            <a:ext cx="6486810" cy="462686"/>
          </a:xfrm>
          <a:prstGeom prst="roundRect">
            <a:avLst/>
          </a:prstGeom>
          <a:solidFill>
            <a:srgbClr val="FF66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dirty="0" err="1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Cra</a:t>
            </a:r>
            <a:r>
              <a:rPr lang="es-CO" sz="2000" dirty="0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 14E  </a:t>
            </a:r>
            <a:r>
              <a:rPr lang="es-CO" sz="2000" dirty="0" err="1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Cll</a:t>
            </a:r>
            <a:r>
              <a:rPr lang="es-CO" sz="2000" dirty="0">
                <a:solidFill>
                  <a:schemeClr val="tx1"/>
                </a:solidFill>
                <a:latin typeface="Tw Cen MT" panose="020B0602020104020603" pitchFamily="34" charset="0"/>
                <a:ea typeface="Malgun Gothic" panose="020B0503020000020004" pitchFamily="34" charset="-127"/>
              </a:rPr>
              <a:t> 44 cerca a Medicina Integral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548051" y="7987832"/>
            <a:ext cx="3761898" cy="523220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Monotype Corsiva" panose="03010101010201010101" pitchFamily="66" charset="0"/>
              </a:rPr>
              <a:t> </a:t>
            </a:r>
            <a:r>
              <a:rPr lang="es-CO" sz="2400" dirty="0">
                <a:latin typeface="Monotype Corsiva" panose="03010101010201010101" pitchFamily="66" charset="0"/>
              </a:rPr>
              <a:t>Domicilios: </a:t>
            </a:r>
            <a:r>
              <a:rPr lang="es-CO" sz="2800" b="1" dirty="0">
                <a:latin typeface="Monotype Corsiva" panose="03010101010201010101" pitchFamily="66" charset="0"/>
                <a:ea typeface="Malgun Gothic" panose="020B0503020000020004" pitchFamily="34" charset="-127"/>
              </a:rPr>
              <a:t>301 257 3696</a:t>
            </a:r>
            <a:endParaRPr lang="es-CO" sz="2000" dirty="0"/>
          </a:p>
        </p:txBody>
      </p:sp>
      <p:pic>
        <p:nvPicPr>
          <p:cNvPr id="9" name="Picture 6" descr="Image result for whatsapp logo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912" y="8037995"/>
            <a:ext cx="422894" cy="42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/>
          <p:cNvSpPr txBox="1"/>
          <p:nvPr/>
        </p:nvSpPr>
        <p:spPr>
          <a:xfrm>
            <a:off x="2275720" y="3379683"/>
            <a:ext cx="2593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Impact" panose="020B0806030902050204" pitchFamily="34" charset="0"/>
              </a:rPr>
              <a:t>ALMUERZOS</a:t>
            </a:r>
          </a:p>
        </p:txBody>
      </p:sp>
      <p:sp>
        <p:nvSpPr>
          <p:cNvPr id="12" name="Marcador de contenido 2"/>
          <p:cNvSpPr txBox="1">
            <a:spLocks/>
          </p:cNvSpPr>
          <p:nvPr/>
        </p:nvSpPr>
        <p:spPr>
          <a:xfrm>
            <a:off x="6473952" y="6313591"/>
            <a:ext cx="147140" cy="15561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128588" indent="-128588" algn="l" defTabSz="51435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57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29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72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endParaRPr lang="es-CO" sz="2200" b="1" dirty="0">
              <a:solidFill>
                <a:srgbClr val="FF0000"/>
              </a:solidFill>
              <a:latin typeface="Tw Cen MT" panose="020B0602020104020603" pitchFamily="34" charset="0"/>
              <a:ea typeface="Malgun Gothic" panose="020B0503020000020004" pitchFamily="34" charset="-127"/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185595" y="201170"/>
            <a:ext cx="6672405" cy="1870076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7" name="Subtítulo 6"/>
          <p:cNvSpPr>
            <a:spLocks noGrp="1"/>
          </p:cNvSpPr>
          <p:nvPr>
            <p:ph type="subTitle" idx="1"/>
          </p:nvPr>
        </p:nvSpPr>
        <p:spPr>
          <a:xfrm>
            <a:off x="475487" y="4105229"/>
            <a:ext cx="6145605" cy="2158199"/>
          </a:xfrm>
        </p:spPr>
        <p:txBody>
          <a:bodyPr>
            <a:normAutofit/>
          </a:bodyPr>
          <a:lstStyle/>
          <a:p>
            <a:endParaRPr lang="es-CO" dirty="0"/>
          </a:p>
          <a:p>
            <a:r>
              <a:rPr lang="es-CO" sz="2400" b="1" dirty="0">
                <a:solidFill>
                  <a:schemeClr val="accent5">
                    <a:lumMod val="75000"/>
                  </a:schemeClr>
                </a:solidFill>
              </a:rPr>
              <a:t>ESTAMOS EN SERVICIO EN EL DIA DE HOY</a:t>
            </a:r>
          </a:p>
          <a:p>
            <a:pPr algn="just"/>
            <a:r>
              <a:rPr lang="es-CO" sz="2400" b="1" dirty="0">
                <a:solidFill>
                  <a:schemeClr val="accent5">
                    <a:lumMod val="75000"/>
                  </a:schemeClr>
                </a:solidFill>
              </a:rPr>
              <a:t>DOMICILIO GRATIS ZONAS CERCANAS, CALIFORNIA, VENECIA, PORTAL PALMERA, V. DEL RIO, PORTAL DE ALMERIA, LOS ANGELES, FLORENCIA, V. CAMPESTRE, MONACO</a:t>
            </a:r>
          </a:p>
          <a:p>
            <a:pPr algn="just"/>
            <a:endParaRPr lang="es-CO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374" y="6078240"/>
            <a:ext cx="2752083" cy="17430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619100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39795</TotalTime>
  <Words>520</Words>
  <Application>Microsoft Office PowerPoint</Application>
  <PresentationFormat>Presentación en pantalla (4:3)</PresentationFormat>
  <Paragraphs>125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25" baseType="lpstr">
      <vt:lpstr>Malgun Gothic</vt:lpstr>
      <vt:lpstr>AR BERKLEY</vt:lpstr>
      <vt:lpstr>Arial</vt:lpstr>
      <vt:lpstr>Arial Narrow</vt:lpstr>
      <vt:lpstr>Bahnschrift SemiBold Condensed</vt:lpstr>
      <vt:lpstr>Berlin Sans FB Demi</vt:lpstr>
      <vt:lpstr>Calibri</vt:lpstr>
      <vt:lpstr>Calibri Light</vt:lpstr>
      <vt:lpstr>Century Schoolbook</vt:lpstr>
      <vt:lpstr>Comic Sans MS</vt:lpstr>
      <vt:lpstr>Eras Bold ITC</vt:lpstr>
      <vt:lpstr>Forte</vt:lpstr>
      <vt:lpstr>Impact</vt:lpstr>
      <vt:lpstr>Monotype Corsiva</vt:lpstr>
      <vt:lpstr>Tw Cen MT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 Comidas Rápidas           El Lobo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Verónica de Jesús Díaz Lobo</dc:creator>
  <cp:lastModifiedBy>Luis Carlos Díaz Lobo</cp:lastModifiedBy>
  <cp:revision>508</cp:revision>
  <dcterms:created xsi:type="dcterms:W3CDTF">2019-06-03T00:59:58Z</dcterms:created>
  <dcterms:modified xsi:type="dcterms:W3CDTF">2024-10-08T15:09:34Z</dcterms:modified>
</cp:coreProperties>
</file>